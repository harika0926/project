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65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2" r:id="rId9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792">
          <p15:clr>
            <a:srgbClr val="A4A3A4"/>
          </p15:clr>
        </p15:guide>
        <p15:guide id="2" pos="192">
          <p15:clr>
            <a:srgbClr val="A4A3A4"/>
          </p15:clr>
        </p15:guide>
        <p15:guide id="3" orient="horz" pos="1080">
          <p15:clr>
            <a:srgbClr val="A4A3A4"/>
          </p15:clr>
        </p15:guide>
      </p15:sldGuideLst>
    </p:ext>
    <p:ext uri="http://customooxmlschemas.google.com/">
      <go:slidesCustomData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go="http://customooxmlschemas.google.com/" xmlns="" r:id="rId220" roundtripDataSignature="AMtx7miWNY2LB4ETJwrL8F0N+EK9hEhqU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1316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204" autoAdjust="0"/>
    <p:restoredTop sz="94660"/>
  </p:normalViewPr>
  <p:slideViewPr>
    <p:cSldViewPr snapToGrid="0">
      <p:cViewPr>
        <p:scale>
          <a:sx n="82" d="100"/>
          <a:sy n="82" d="100"/>
        </p:scale>
        <p:origin x="710" y="72"/>
      </p:cViewPr>
      <p:guideLst>
        <p:guide orient="horz" pos="792"/>
        <p:guide pos="192"/>
        <p:guide orient="horz" pos="10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222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22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220" Type="http://customschemas.google.com/relationships/presentationmetadata" Target="metadata"/><Relationship Id="rId5" Type="http://schemas.openxmlformats.org/officeDocument/2006/relationships/slide" Target="slides/slide4.xml"/><Relationship Id="rId22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223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23413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378783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>
  <p:cSld name="Title and body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718775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282664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2.jp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Google Shape;110;p4" descr="A close up of a sign&#10;&#10;Description automatically generated">
            <a:extLst>
              <a:ext uri="{FF2B5EF4-FFF2-40B4-BE49-F238E27FC236}">
                <a16:creationId xmlns:a16="http://schemas.microsoft.com/office/drawing/2014/main" id="{CE849A3B-BCF0-B774-F89E-81965C71F93E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0072688" y="78002"/>
            <a:ext cx="1800225" cy="575514"/>
          </a:xfrm>
          <a:prstGeom prst="rect">
            <a:avLst/>
          </a:prstGeom>
          <a:noFill/>
          <a:ln>
            <a:noFill/>
          </a:ln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E153E6A6-60E4-FE14-1CBC-8CC211274D1C}"/>
              </a:ext>
            </a:extLst>
          </p:cNvPr>
          <p:cNvSpPr/>
          <p:nvPr/>
        </p:nvSpPr>
        <p:spPr>
          <a:xfrm>
            <a:off x="1" y="0"/>
            <a:ext cx="9829800" cy="717630"/>
          </a:xfrm>
          <a:prstGeom prst="rect">
            <a:avLst/>
          </a:prstGeom>
          <a:solidFill>
            <a:srgbClr val="213264"/>
          </a:solidFill>
          <a:ln>
            <a:solidFill>
              <a:srgbClr val="21326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2C7CE881-772B-9023-3054-4B219B75D755}"/>
              </a:ext>
            </a:extLst>
          </p:cNvPr>
          <p:cNvSpPr/>
          <p:nvPr/>
        </p:nvSpPr>
        <p:spPr>
          <a:xfrm>
            <a:off x="9888967" y="-419"/>
            <a:ext cx="112283" cy="732357"/>
          </a:xfrm>
          <a:prstGeom prst="rect">
            <a:avLst/>
          </a:prstGeom>
          <a:solidFill>
            <a:srgbClr val="7FBA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31" name="Picture 30" descr="A blue and white background&#10;&#10;Description automatically generated with medium confidence">
            <a:extLst>
              <a:ext uri="{FF2B5EF4-FFF2-40B4-BE49-F238E27FC236}">
                <a16:creationId xmlns:a16="http://schemas.microsoft.com/office/drawing/2014/main" id="{16A7B69A-9B14-87FE-841D-37F0A91D141D}"/>
              </a:ext>
            </a:extLst>
          </p:cNvPr>
          <p:cNvPicPr>
            <a:picLocks noChangeAspect="1"/>
          </p:cNvPicPr>
          <p:nvPr/>
        </p:nvPicPr>
        <p:blipFill rotWithShape="1">
          <a:blip r:embed="rId7">
            <a:alphaModFix amt="16000"/>
          </a:blip>
          <a:srcRect t="24724" r="1619" b="63695"/>
          <a:stretch/>
        </p:blipFill>
        <p:spPr>
          <a:xfrm>
            <a:off x="0" y="-1"/>
            <a:ext cx="9839325" cy="723901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37B91A16-5D54-2FC0-B0FD-A78085FC1313}"/>
              </a:ext>
            </a:extLst>
          </p:cNvPr>
          <p:cNvSpPr/>
          <p:nvPr/>
        </p:nvSpPr>
        <p:spPr>
          <a:xfrm>
            <a:off x="11925300" y="-419"/>
            <a:ext cx="266700" cy="732357"/>
          </a:xfrm>
          <a:prstGeom prst="rect">
            <a:avLst/>
          </a:prstGeom>
          <a:solidFill>
            <a:srgbClr val="FED5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87" r:id="rId1"/>
    <p:sldLayoutId id="2147483701" r:id="rId2"/>
    <p:sldLayoutId id="2147483714" r:id="rId3"/>
    <p:sldLayoutId id="2147483727" r:id="rId4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hyperlink" Target="https://www.freepik.com/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person sitting at a desk with a computer&#10;&#10;Description automatically generated">
            <a:extLst>
              <a:ext uri="{FF2B5EF4-FFF2-40B4-BE49-F238E27FC236}">
                <a16:creationId xmlns:a16="http://schemas.microsoft.com/office/drawing/2014/main" id="{07B8740D-C76F-46FC-AEFB-23FB0614DB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C1857762-AD52-483C-B3E1-635C5BBC6F2F}"/>
              </a:ext>
            </a:extLst>
          </p:cNvPr>
          <p:cNvSpPr/>
          <p:nvPr/>
        </p:nvSpPr>
        <p:spPr>
          <a:xfrm>
            <a:off x="5873750" y="584200"/>
            <a:ext cx="4673600" cy="977900"/>
          </a:xfrm>
          <a:prstGeom prst="roundRect">
            <a:avLst/>
          </a:prstGeom>
          <a:solidFill>
            <a:srgbClr val="EBEEF9"/>
          </a:solidFill>
          <a:ln>
            <a:solidFill>
              <a:schemeClr val="bg1">
                <a:lumMod val="85000"/>
              </a:schemeClr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5067E9C-C7B9-4476-9708-CBB3F66FD892}"/>
              </a:ext>
            </a:extLst>
          </p:cNvPr>
          <p:cNvSpPr txBox="1"/>
          <p:nvPr/>
        </p:nvSpPr>
        <p:spPr>
          <a:xfrm>
            <a:off x="3534666" y="2455462"/>
            <a:ext cx="8059918" cy="20005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4400" b="1" dirty="0">
                <a:solidFill>
                  <a:schemeClr val="bg1"/>
                </a:solidFill>
                <a:latin typeface="Calibri" panose="020F0502020204030204" pitchFamily="34" charset="0"/>
                <a:cs typeface="Times New Roman" panose="02020603050405020304" pitchFamily="18" charset="0"/>
              </a:rPr>
              <a:t>Deforestation Detection</a:t>
            </a:r>
          </a:p>
          <a:p>
            <a:pPr algn="r"/>
            <a:r>
              <a:rPr lang="en-US" sz="1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Project title :</a:t>
            </a:r>
            <a:r>
              <a:rPr lang="en-US" sz="1600" dirty="0">
                <a:solidFill>
                  <a:schemeClr val="bg1"/>
                </a:solidFill>
              </a:rPr>
              <a:t>AI-Powered Deforestation Detection Using Satellite Imagery</a:t>
            </a:r>
            <a:r>
              <a:rPr lang="en-US" sz="1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 algn="r"/>
            <a:endParaRPr lang="en-US" sz="28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r"/>
            <a:r>
              <a:rPr lang="en-US" sz="1800" dirty="0">
                <a:solidFill>
                  <a:schemeClr val="bg1"/>
                </a:solidFill>
              </a:rPr>
              <a:t>AICTE Student ID: STU685be2e0095751750852320 </a:t>
            </a:r>
          </a:p>
          <a:p>
            <a:pPr algn="r"/>
            <a:r>
              <a:rPr lang="en-US" sz="1800" dirty="0">
                <a:solidFill>
                  <a:schemeClr val="bg1"/>
                </a:solidFill>
              </a:rPr>
              <a:t>AICTE Internship ID: INTERNSHIP_1748923002683e727a876ea</a:t>
            </a:r>
            <a:endParaRPr lang="en-US" sz="18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D7224A59-2417-428A-A991-E468431BB817}"/>
              </a:ext>
            </a:extLst>
          </p:cNvPr>
          <p:cNvGrpSpPr/>
          <p:nvPr/>
        </p:nvGrpSpPr>
        <p:grpSpPr>
          <a:xfrm>
            <a:off x="6890523" y="742091"/>
            <a:ext cx="2640053" cy="664378"/>
            <a:chOff x="2375536" y="1112060"/>
            <a:chExt cx="3292636" cy="828603"/>
          </a:xfrm>
        </p:grpSpPr>
        <p:pic>
          <p:nvPicPr>
            <p:cNvPr id="7" name="Picture 6" descr="A close up of a logo&#10;&#10;Description automatically generated">
              <a:extLst>
                <a:ext uri="{FF2B5EF4-FFF2-40B4-BE49-F238E27FC236}">
                  <a16:creationId xmlns:a16="http://schemas.microsoft.com/office/drawing/2014/main" id="{BD3530AF-9771-470E-A9BF-F28AA227533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092781" y="1270168"/>
              <a:ext cx="1575391" cy="512386"/>
            </a:xfrm>
            <a:prstGeom prst="rect">
              <a:avLst/>
            </a:prstGeom>
          </p:spPr>
        </p:pic>
        <p:pic>
          <p:nvPicPr>
            <p:cNvPr id="8" name="Picture 7" descr="A yellow and red shell logo&#10;&#10;Description automatically generated">
              <a:extLst>
                <a:ext uri="{FF2B5EF4-FFF2-40B4-BE49-F238E27FC236}">
                  <a16:creationId xmlns:a16="http://schemas.microsoft.com/office/drawing/2014/main" id="{75E6A819-9F3F-4787-A707-A7415C302BF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375536" y="1112060"/>
              <a:ext cx="985475" cy="828603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671276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094E319-C77C-49E2-964C-6E125D716194}"/>
              </a:ext>
            </a:extLst>
          </p:cNvPr>
          <p:cNvSpPr txBox="1"/>
          <p:nvPr/>
        </p:nvSpPr>
        <p:spPr>
          <a:xfrm>
            <a:off x="191911" y="972537"/>
            <a:ext cx="265288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b="1" dirty="0">
                <a:solidFill>
                  <a:srgbClr val="213163"/>
                </a:solidFill>
              </a:rPr>
              <a:t>Learning Objectives</a:t>
            </a:r>
            <a:endParaRPr lang="en-IN" sz="2000" dirty="0">
              <a:solidFill>
                <a:srgbClr val="213163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E1F3497-5370-4874-9908-5AD45214E10B}"/>
              </a:ext>
            </a:extLst>
          </p:cNvPr>
          <p:cNvSpPr txBox="1"/>
          <p:nvPr/>
        </p:nvSpPr>
        <p:spPr>
          <a:xfrm>
            <a:off x="199809" y="6135329"/>
            <a:ext cx="79587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800"/>
              </a:spcAft>
            </a:pPr>
            <a:r>
              <a:rPr lang="en-IN" sz="1200" b="1" dirty="0">
                <a:latin typeface="+mn-lt"/>
              </a:rPr>
              <a:t>Source :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CE830DD-8813-42EB-B27B-B7D85423D0C7}"/>
              </a:ext>
            </a:extLst>
          </p:cNvPr>
          <p:cNvSpPr txBox="1"/>
          <p:nvPr/>
        </p:nvSpPr>
        <p:spPr>
          <a:xfrm>
            <a:off x="880529" y="6135329"/>
            <a:ext cx="184235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800"/>
              </a:spcAft>
            </a:pPr>
            <a:r>
              <a:rPr lang="en-IN" sz="1200" dirty="0">
                <a:solidFill>
                  <a:srgbClr val="0000FF"/>
                </a:solidFill>
                <a:latin typeface="+mn-lt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www.freepik.com/</a:t>
            </a:r>
            <a:endParaRPr lang="en-IN" sz="1200" dirty="0">
              <a:solidFill>
                <a:srgbClr val="0000FF"/>
              </a:solidFill>
              <a:latin typeface="+mn-lt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CA22F707-7F22-48A3-97EC-98EFB1023A55}"/>
              </a:ext>
            </a:extLst>
          </p:cNvPr>
          <p:cNvCxnSpPr/>
          <p:nvPr/>
        </p:nvCxnSpPr>
        <p:spPr>
          <a:xfrm>
            <a:off x="0" y="6055360"/>
            <a:ext cx="12192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A ladder leading to a large yellow circle&#10;&#10;Description automatically generated">
            <a:extLst>
              <a:ext uri="{FF2B5EF4-FFF2-40B4-BE49-F238E27FC236}">
                <a16:creationId xmlns:a16="http://schemas.microsoft.com/office/drawing/2014/main" id="{E2920B14-B344-4926-9729-BC7EBD91FF9A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alphaModFix amt="85000"/>
          </a:blip>
          <a:srcRect l="13763" t="6135" r="13650"/>
          <a:stretch/>
        </p:blipFill>
        <p:spPr>
          <a:xfrm>
            <a:off x="7345680" y="1442720"/>
            <a:ext cx="4500880" cy="463296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C264928-EACB-4739-BDDA-6799C99356F3}"/>
              </a:ext>
            </a:extLst>
          </p:cNvPr>
          <p:cNvSpPr txBox="1"/>
          <p:nvPr/>
        </p:nvSpPr>
        <p:spPr>
          <a:xfrm>
            <a:off x="8839200" y="3168609"/>
            <a:ext cx="1503681" cy="6309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800"/>
              </a:spcAft>
            </a:pPr>
            <a:r>
              <a:rPr lang="en-IN" sz="3500" b="1" dirty="0">
                <a:solidFill>
                  <a:schemeClr val="tx1"/>
                </a:solidFill>
                <a:latin typeface="+mn-lt"/>
              </a:rPr>
              <a:t>GOAL</a:t>
            </a:r>
          </a:p>
        </p:txBody>
      </p:sp>
      <p:sp>
        <p:nvSpPr>
          <p:cNvPr id="10" name="Rectangle 1">
            <a:extLst>
              <a:ext uri="{FF2B5EF4-FFF2-40B4-BE49-F238E27FC236}">
                <a16:creationId xmlns:a16="http://schemas.microsoft.com/office/drawing/2014/main" id="{9A0F2980-8A26-6080-42C1-13720DDE17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323166"/>
            <a:ext cx="248786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8" name="Rectangle 1">
            <a:extLst>
              <a:ext uri="{FF2B5EF4-FFF2-40B4-BE49-F238E27FC236}">
                <a16:creationId xmlns:a16="http://schemas.microsoft.com/office/drawing/2014/main" id="{F8DA8B2A-33E7-FF78-2178-C6FBE9517E91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-1" y="1634385"/>
            <a:ext cx="7445829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Understand how Convolutional Neural Networks (CNNs) can classify satellite images.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Apply image preprocessing techniques for model training.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Build and deploy a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Streamlit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web app for real-time deforestation detection.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Explore the use of AI in environmental monitoring and SDG 15 (Life on Land).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320524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361D872-7EC7-439F-A588-B1D90CB7A92F}"/>
              </a:ext>
            </a:extLst>
          </p:cNvPr>
          <p:cNvSpPr txBox="1"/>
          <p:nvPr/>
        </p:nvSpPr>
        <p:spPr>
          <a:xfrm>
            <a:off x="261728" y="988150"/>
            <a:ext cx="11930272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dirty="0">
                <a:solidFill>
                  <a:srgbClr val="213163"/>
                </a:solidFill>
              </a:rPr>
              <a:t>T</a:t>
            </a:r>
            <a:r>
              <a:rPr lang="en-IN" sz="2000" b="1" dirty="0" err="1">
                <a:solidFill>
                  <a:srgbClr val="213163"/>
                </a:solidFill>
              </a:rPr>
              <a:t>ools</a:t>
            </a:r>
            <a:r>
              <a:rPr lang="en-IN" sz="2000" b="1" dirty="0">
                <a:solidFill>
                  <a:srgbClr val="213163"/>
                </a:solidFill>
              </a:rPr>
              <a:t> and Technology used</a:t>
            </a:r>
          </a:p>
          <a:p>
            <a:endParaRPr lang="en-IN" sz="2000" b="1" dirty="0">
              <a:solidFill>
                <a:srgbClr val="213163"/>
              </a:solidFill>
            </a:endParaRPr>
          </a:p>
          <a:p>
            <a:r>
              <a:rPr lang="en-IN" sz="2000" dirty="0"/>
              <a:t>Programming : Python</a:t>
            </a:r>
          </a:p>
          <a:p>
            <a:r>
              <a:rPr lang="en-IN" sz="2000" dirty="0"/>
              <a:t>ML Framework : TensorFlow, </a:t>
            </a:r>
            <a:r>
              <a:rPr lang="en-IN" sz="2000" dirty="0" err="1"/>
              <a:t>Keras</a:t>
            </a:r>
            <a:endParaRPr lang="en-IN" sz="2000" dirty="0"/>
          </a:p>
          <a:p>
            <a:r>
              <a:rPr lang="en-IN" sz="2000" dirty="0"/>
              <a:t>Image Processing : OpenCV, NumPy</a:t>
            </a:r>
          </a:p>
          <a:p>
            <a:r>
              <a:rPr lang="en-IN" sz="2000" dirty="0"/>
              <a:t>Web App</a:t>
            </a:r>
            <a:r>
              <a:rPr lang="en-IN" sz="2000" b="1" dirty="0">
                <a:solidFill>
                  <a:srgbClr val="213163"/>
                </a:solidFill>
              </a:rPr>
              <a:t>  : </a:t>
            </a:r>
            <a:r>
              <a:rPr lang="en-IN" sz="2000" dirty="0" err="1"/>
              <a:t>Streamlit</a:t>
            </a:r>
            <a:endParaRPr lang="en-IN" sz="2000" dirty="0"/>
          </a:p>
          <a:p>
            <a:r>
              <a:rPr lang="en-IN" sz="2000" dirty="0"/>
              <a:t>Deployment : Localhost or GitHub</a:t>
            </a:r>
          </a:p>
          <a:p>
            <a:r>
              <a:rPr lang="en-IN" sz="2000" dirty="0"/>
              <a:t>Dataset : Satellite images (Landsat, Sentinel, Kaggle)</a:t>
            </a:r>
            <a:endParaRPr lang="en-IN" sz="2000" b="1" dirty="0">
              <a:solidFill>
                <a:srgbClr val="21316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645712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361D872-7EC7-439F-A588-B1D90CB7A92F}"/>
              </a:ext>
            </a:extLst>
          </p:cNvPr>
          <p:cNvSpPr txBox="1"/>
          <p:nvPr/>
        </p:nvSpPr>
        <p:spPr>
          <a:xfrm>
            <a:off x="149087" y="786055"/>
            <a:ext cx="12042913" cy="62889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 </a:t>
            </a:r>
            <a:r>
              <a:rPr lang="en-US" sz="2400" b="1" dirty="0">
                <a:solidFill>
                  <a:srgbClr val="213163"/>
                </a:solidFill>
              </a:rPr>
              <a:t>Methodology</a:t>
            </a:r>
          </a:p>
          <a:p>
            <a:endParaRPr lang="en-US" sz="2400" b="1" dirty="0">
              <a:solidFill>
                <a:srgbClr val="213163"/>
              </a:solidFill>
            </a:endParaRPr>
          </a:p>
          <a:p>
            <a:endParaRPr lang="en-US" sz="2400" b="1" dirty="0">
              <a:solidFill>
                <a:srgbClr val="213163"/>
              </a:solidFill>
            </a:endParaRPr>
          </a:p>
          <a:p>
            <a:endParaRPr lang="en-US" sz="2400" b="1" dirty="0">
              <a:solidFill>
                <a:srgbClr val="213163"/>
              </a:solidFill>
            </a:endParaRPr>
          </a:p>
          <a:p>
            <a:endParaRPr lang="en-US" sz="2400" b="1" dirty="0">
              <a:solidFill>
                <a:srgbClr val="213163"/>
              </a:solidFill>
            </a:endParaRPr>
          </a:p>
          <a:p>
            <a:endParaRPr lang="en-US" sz="2400" b="1" dirty="0">
              <a:solidFill>
                <a:srgbClr val="213163"/>
              </a:solidFill>
            </a:endParaRPr>
          </a:p>
          <a:p>
            <a:endParaRPr lang="en-US" sz="2400" b="1" dirty="0">
              <a:solidFill>
                <a:srgbClr val="213163"/>
              </a:solidFill>
            </a:endParaRPr>
          </a:p>
          <a:p>
            <a:endParaRPr lang="en-US" sz="2400" b="1" dirty="0">
              <a:solidFill>
                <a:srgbClr val="213163"/>
              </a:solidFill>
            </a:endParaRPr>
          </a:p>
          <a:p>
            <a:endParaRPr lang="en-US" sz="2400" b="1" dirty="0">
              <a:solidFill>
                <a:srgbClr val="213163"/>
              </a:solidFill>
            </a:endParaRPr>
          </a:p>
          <a:p>
            <a:endParaRPr lang="en-US" sz="2400" b="1" dirty="0">
              <a:solidFill>
                <a:srgbClr val="213163"/>
              </a:solidFill>
            </a:endParaRPr>
          </a:p>
          <a:p>
            <a:endParaRPr lang="en-US" sz="2400" b="1" dirty="0">
              <a:solidFill>
                <a:srgbClr val="213163"/>
              </a:solidFill>
            </a:endParaRPr>
          </a:p>
          <a:p>
            <a:endParaRPr lang="en-US" sz="2400" b="1" dirty="0">
              <a:solidFill>
                <a:srgbClr val="213163"/>
              </a:solidFill>
            </a:endParaRPr>
          </a:p>
          <a:p>
            <a:endParaRPr lang="en-US" sz="2400" b="1" dirty="0">
              <a:solidFill>
                <a:srgbClr val="213163"/>
              </a:solidFill>
            </a:endParaRPr>
          </a:p>
          <a:p>
            <a:endParaRPr lang="en-US" sz="2400" b="1" dirty="0">
              <a:solidFill>
                <a:srgbClr val="213163"/>
              </a:solidFill>
            </a:endParaRPr>
          </a:p>
          <a:p>
            <a:endParaRPr lang="en-US" sz="2400" b="1" dirty="0">
              <a:solidFill>
                <a:srgbClr val="213163"/>
              </a:solidFill>
            </a:endParaRPr>
          </a:p>
          <a:p>
            <a:endParaRPr lang="en-US" sz="2400" b="1" dirty="0">
              <a:solidFill>
                <a:srgbClr val="213163"/>
              </a:solidFill>
            </a:endParaRPr>
          </a:p>
          <a:p>
            <a:endParaRPr lang="en-US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7DB3571-09EE-8F7F-E0A5-3CCA11A54D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9086" y="1557553"/>
            <a:ext cx="12042914" cy="34163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1. Data Collection</a:t>
            </a:r>
          </a:p>
          <a:p>
            <a:pPr marR="0" lvl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sz="1800" b="1" dirty="0">
                <a:solidFill>
                  <a:schemeClr val="tx1"/>
                </a:solidFill>
                <a:latin typeface="Arial" panose="020B0604020202020204" pitchFamily="34" charset="0"/>
              </a:rPr>
              <a:t> 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      Satellite images labeled as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forest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and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deforested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are collected from Kaggle or Sentinel-2.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2.  Preprocessing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sz="1800" b="1" dirty="0">
                <a:solidFill>
                  <a:schemeClr val="tx1"/>
                </a:solidFill>
                <a:latin typeface="Arial" panose="020B0604020202020204" pitchFamily="34" charset="0"/>
              </a:rPr>
              <a:t> 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      Images resized to 128×128 pixels.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sz="1800" b="1" dirty="0">
                <a:solidFill>
                  <a:schemeClr val="tx1"/>
                </a:solidFill>
                <a:latin typeface="Arial" panose="020B0604020202020204" pitchFamily="34" charset="0"/>
              </a:rPr>
              <a:t> 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      Normalized pixel values for better model performance.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3. Model Training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sz="1800" b="1" dirty="0">
                <a:solidFill>
                  <a:schemeClr val="tx1"/>
                </a:solidFill>
                <a:latin typeface="Arial" panose="020B0604020202020204" pitchFamily="34" charset="0"/>
              </a:rPr>
              <a:t>     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  CNN architecture with two convolutional layers and one dense output layer.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sz="1800" b="1" dirty="0">
                <a:solidFill>
                  <a:schemeClr val="tx1"/>
                </a:solidFill>
                <a:latin typeface="Arial" panose="020B0604020202020204" pitchFamily="34" charset="0"/>
              </a:rPr>
              <a:t>       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Binary classification using sigmoid activation.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4. Deployment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sz="1800" b="1" dirty="0">
                <a:solidFill>
                  <a:schemeClr val="tx1"/>
                </a:solidFill>
                <a:latin typeface="Arial" panose="020B0604020202020204" pitchFamily="34" charset="0"/>
              </a:rPr>
              <a:t>         </a:t>
            </a: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Streamlit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app for user interaction.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sz="1800" b="1" dirty="0">
                <a:solidFill>
                  <a:schemeClr val="tx1"/>
                </a:solidFill>
                <a:latin typeface="Arial" panose="020B0604020202020204" pitchFamily="34" charset="0"/>
              </a:rPr>
              <a:t>        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Upload image → preprocess → predict → display result.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067900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361D872-7EC7-439F-A588-B1D90CB7A92F}"/>
              </a:ext>
            </a:extLst>
          </p:cNvPr>
          <p:cNvSpPr txBox="1"/>
          <p:nvPr/>
        </p:nvSpPr>
        <p:spPr>
          <a:xfrm>
            <a:off x="255104" y="1054412"/>
            <a:ext cx="11264348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rgbClr val="213163"/>
                </a:solidFill>
              </a:rPr>
              <a:t>Problem Statement: </a:t>
            </a:r>
          </a:p>
          <a:p>
            <a:pPr algn="just"/>
            <a:r>
              <a:rPr lang="en-US" sz="2000" dirty="0"/>
              <a:t>       Manual monitoring of deforestation is slow, expensive, and often inaccurate. With increasing forest loss due to illegal logging and urban expansion, there is a need for an automated system that can detect deforestation from satellite images in real time.</a:t>
            </a:r>
            <a:endParaRPr lang="en-US" sz="2000" b="1" dirty="0">
              <a:solidFill>
                <a:srgbClr val="213163"/>
              </a:solidFill>
            </a:endParaRPr>
          </a:p>
          <a:p>
            <a:endParaRPr lang="en-US" sz="2000" b="1" dirty="0">
              <a:solidFill>
                <a:srgbClr val="213163"/>
              </a:solidFill>
            </a:endParaRPr>
          </a:p>
          <a:p>
            <a:r>
              <a:rPr lang="en-US" sz="2000" b="1" dirty="0">
                <a:solidFill>
                  <a:srgbClr val="213163"/>
                </a:solidFill>
              </a:rPr>
              <a:t> </a:t>
            </a:r>
            <a:endParaRPr lang="en-IN" sz="2000" b="1" dirty="0">
              <a:solidFill>
                <a:srgbClr val="21316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9659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361D872-7EC7-439F-A588-B1D90CB7A92F}"/>
              </a:ext>
            </a:extLst>
          </p:cNvPr>
          <p:cNvSpPr txBox="1"/>
          <p:nvPr/>
        </p:nvSpPr>
        <p:spPr>
          <a:xfrm>
            <a:off x="334616" y="1024595"/>
            <a:ext cx="9992139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rgbClr val="213163"/>
                </a:solidFill>
              </a:rPr>
              <a:t>Solution:</a:t>
            </a:r>
          </a:p>
          <a:p>
            <a:pPr algn="just"/>
            <a:r>
              <a:rPr lang="en-US" sz="2000" b="1" dirty="0">
                <a:solidFill>
                  <a:srgbClr val="213163"/>
                </a:solidFill>
              </a:rPr>
              <a:t>              </a:t>
            </a:r>
            <a:r>
              <a:rPr lang="en-US" sz="2000" dirty="0"/>
              <a:t>This project uses a </a:t>
            </a:r>
            <a:r>
              <a:rPr lang="en-US" sz="2000" b="1" dirty="0"/>
              <a:t>Convolutional Neural Network (CNN)</a:t>
            </a:r>
            <a:r>
              <a:rPr lang="en-US" sz="2000" dirty="0"/>
              <a:t> to classify satellite images as either </a:t>
            </a:r>
            <a:r>
              <a:rPr lang="en-US" sz="2000" b="1" dirty="0"/>
              <a:t>forested</a:t>
            </a:r>
            <a:r>
              <a:rPr lang="en-US" sz="2000" dirty="0"/>
              <a:t> or </a:t>
            </a:r>
            <a:r>
              <a:rPr lang="en-US" sz="2000" b="1" dirty="0"/>
              <a:t>deforested</a:t>
            </a:r>
            <a:r>
              <a:rPr lang="en-US" sz="2000" dirty="0"/>
              <a:t>. A </a:t>
            </a:r>
            <a:r>
              <a:rPr lang="en-US" sz="2000" b="1" dirty="0" err="1"/>
              <a:t>Streamlit</a:t>
            </a:r>
            <a:r>
              <a:rPr lang="en-US" sz="2000" b="1" dirty="0"/>
              <a:t> web app</a:t>
            </a:r>
            <a:r>
              <a:rPr lang="en-US" sz="2000" dirty="0"/>
              <a:t> allows users to upload images and receive instant feedback. The system can be extended to send alerts and generate heatmaps for high-risk zones.</a:t>
            </a:r>
          </a:p>
          <a:p>
            <a:endParaRPr lang="en-US" sz="2000" b="1" dirty="0">
              <a:solidFill>
                <a:srgbClr val="213163"/>
              </a:solidFill>
            </a:endParaRPr>
          </a:p>
          <a:p>
            <a:endParaRPr lang="en-US" sz="2000" b="1" dirty="0">
              <a:solidFill>
                <a:srgbClr val="213163"/>
              </a:solidFill>
            </a:endParaRPr>
          </a:p>
          <a:p>
            <a:endParaRPr lang="en-US" sz="2000" b="1" dirty="0">
              <a:solidFill>
                <a:srgbClr val="213163"/>
              </a:solidFill>
            </a:endParaRPr>
          </a:p>
          <a:p>
            <a:endParaRPr lang="en-US" sz="2000" b="1" dirty="0">
              <a:solidFill>
                <a:srgbClr val="213163"/>
              </a:solidFill>
            </a:endParaRPr>
          </a:p>
          <a:p>
            <a:endParaRPr lang="en-US" sz="2000" b="1" dirty="0">
              <a:solidFill>
                <a:srgbClr val="213163"/>
              </a:solidFill>
            </a:endParaRPr>
          </a:p>
          <a:p>
            <a:endParaRPr lang="en-US" sz="2000" b="1" dirty="0">
              <a:solidFill>
                <a:srgbClr val="213163"/>
              </a:solidFill>
            </a:endParaRPr>
          </a:p>
          <a:p>
            <a:r>
              <a:rPr lang="en-US" sz="2000" b="1" dirty="0">
                <a:solidFill>
                  <a:srgbClr val="213163"/>
                </a:solidFill>
              </a:rPr>
              <a:t>  </a:t>
            </a:r>
            <a:endParaRPr lang="en-IN" sz="2000" b="1" dirty="0">
              <a:solidFill>
                <a:srgbClr val="21316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029688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361D872-7EC7-439F-A588-B1D90CB7A92F}"/>
              </a:ext>
            </a:extLst>
          </p:cNvPr>
          <p:cNvSpPr txBox="1"/>
          <p:nvPr/>
        </p:nvSpPr>
        <p:spPr>
          <a:xfrm>
            <a:off x="255103" y="1054412"/>
            <a:ext cx="9243459" cy="3477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rgbClr val="213163"/>
                </a:solidFill>
              </a:rPr>
              <a:t>Screenshot of Output:</a:t>
            </a:r>
          </a:p>
          <a:p>
            <a:r>
              <a:rPr lang="en-US" sz="2000" b="1" dirty="0">
                <a:solidFill>
                  <a:srgbClr val="213163"/>
                </a:solidFill>
              </a:rPr>
              <a:t> </a:t>
            </a:r>
          </a:p>
          <a:p>
            <a:r>
              <a:rPr lang="en-US" sz="2000" b="1" dirty="0">
                <a:solidFill>
                  <a:srgbClr val="213163"/>
                </a:solidFill>
              </a:rPr>
              <a:t> </a:t>
            </a:r>
          </a:p>
          <a:p>
            <a:r>
              <a:rPr lang="en-US" sz="2000" b="1" dirty="0">
                <a:solidFill>
                  <a:srgbClr val="213163"/>
                </a:solidFill>
              </a:rPr>
              <a:t>                  </a:t>
            </a:r>
          </a:p>
          <a:p>
            <a:r>
              <a:rPr lang="en-US" sz="2000" b="1" dirty="0">
                <a:solidFill>
                  <a:srgbClr val="213163"/>
                </a:solidFill>
              </a:rPr>
              <a:t>          </a:t>
            </a:r>
          </a:p>
          <a:p>
            <a:endParaRPr lang="en-US" sz="2000" b="1" dirty="0">
              <a:solidFill>
                <a:srgbClr val="213163"/>
              </a:solidFill>
            </a:endParaRPr>
          </a:p>
          <a:p>
            <a:endParaRPr lang="en-US" sz="2000" b="1" dirty="0">
              <a:solidFill>
                <a:srgbClr val="213163"/>
              </a:solidFill>
            </a:endParaRPr>
          </a:p>
          <a:p>
            <a:endParaRPr lang="en-US" sz="2000" b="1" dirty="0">
              <a:solidFill>
                <a:srgbClr val="213163"/>
              </a:solidFill>
            </a:endParaRPr>
          </a:p>
          <a:p>
            <a:endParaRPr lang="en-US" sz="2000" b="1" dirty="0">
              <a:solidFill>
                <a:srgbClr val="213163"/>
              </a:solidFill>
            </a:endParaRPr>
          </a:p>
          <a:p>
            <a:endParaRPr lang="en-US" sz="2000" b="1" dirty="0">
              <a:solidFill>
                <a:srgbClr val="213163"/>
              </a:solidFill>
            </a:endParaRPr>
          </a:p>
          <a:p>
            <a:r>
              <a:rPr lang="en-US" sz="2000" b="1" dirty="0">
                <a:solidFill>
                  <a:srgbClr val="213163"/>
                </a:solidFill>
              </a:rPr>
              <a:t> </a:t>
            </a:r>
            <a:endParaRPr lang="en-IN" sz="2000" b="1" dirty="0">
              <a:solidFill>
                <a:srgbClr val="213163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89E113F-64C8-02E7-ECB7-4460CA82BD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12572" y="1971471"/>
            <a:ext cx="5934270" cy="29150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594941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361D872-7EC7-439F-A588-B1D90CB7A92F}"/>
              </a:ext>
            </a:extLst>
          </p:cNvPr>
          <p:cNvSpPr txBox="1"/>
          <p:nvPr/>
        </p:nvSpPr>
        <p:spPr>
          <a:xfrm>
            <a:off x="149086" y="988152"/>
            <a:ext cx="11906065" cy="80637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2000" b="1" dirty="0">
                <a:solidFill>
                  <a:srgbClr val="213163"/>
                </a:solidFill>
              </a:rPr>
              <a:t>Conclusion:</a:t>
            </a:r>
          </a:p>
          <a:p>
            <a:pPr algn="just"/>
            <a:endParaRPr lang="en-US" sz="2000" b="1" dirty="0">
              <a:solidFill>
                <a:srgbClr val="213163"/>
              </a:solidFill>
            </a:endParaRPr>
          </a:p>
          <a:p>
            <a:pPr algn="just"/>
            <a:r>
              <a:rPr lang="en-US" sz="2000" dirty="0"/>
              <a:t>         AI-powered deforestation detection using satellite imagery has emerged as a transformative approach to environmental monitoring. By leveraging deep learning models such as Convolutional Neural Networks (CNNs) and U-Net architectures, these systems can accurately identify and segment areas of forest loss with high precision—often exceeding 90% accuracy. The use of semantic segmentation, multiscale feature extraction, and attention mechanisms further enhances the model’s ability to detect subtle changes across diverse terrains and vegetation types. Unlike traditional ground-based methods, AI-driven satellite analysis enables scalable, repeatable, and cost-effective monitoring across vast geographic regions. This not only facilitates real-time detection and early intervention but also empowers policymakers and conservationists to enforce regulations and promote sustainable forest management. Ultimately, such technologies play a vital role in advancing climate action, preserving biodiversity, and supporting global efforts toward environmental sustainability.</a:t>
            </a:r>
          </a:p>
          <a:p>
            <a:pPr algn="just"/>
            <a:endParaRPr lang="en-US" sz="2000" b="1" dirty="0">
              <a:solidFill>
                <a:srgbClr val="213163"/>
              </a:solidFill>
            </a:endParaRPr>
          </a:p>
          <a:p>
            <a:pPr algn="just"/>
            <a:endParaRPr lang="en-US" sz="2000" b="1" dirty="0">
              <a:solidFill>
                <a:srgbClr val="213163"/>
              </a:solidFill>
            </a:endParaRPr>
          </a:p>
          <a:p>
            <a:pPr algn="just"/>
            <a:endParaRPr lang="en-US" sz="2000" b="1" dirty="0">
              <a:solidFill>
                <a:srgbClr val="213163"/>
              </a:solidFill>
            </a:endParaRPr>
          </a:p>
          <a:p>
            <a:pPr algn="just"/>
            <a:endParaRPr lang="en-US" sz="2000" b="1" dirty="0">
              <a:solidFill>
                <a:srgbClr val="213163"/>
              </a:solidFill>
            </a:endParaRPr>
          </a:p>
          <a:p>
            <a:pPr algn="just"/>
            <a:endParaRPr lang="en-US" sz="2000" b="1" dirty="0">
              <a:solidFill>
                <a:srgbClr val="213163"/>
              </a:solidFill>
            </a:endParaRPr>
          </a:p>
          <a:p>
            <a:pPr algn="just"/>
            <a:endParaRPr lang="en-US" sz="2000" b="1" dirty="0">
              <a:solidFill>
                <a:srgbClr val="213163"/>
              </a:solidFill>
            </a:endParaRPr>
          </a:p>
          <a:p>
            <a:pPr algn="just"/>
            <a:endParaRPr lang="en-US" sz="2000" b="1" dirty="0">
              <a:solidFill>
                <a:srgbClr val="213163"/>
              </a:solidFill>
            </a:endParaRPr>
          </a:p>
          <a:p>
            <a:pPr algn="just"/>
            <a:endParaRPr lang="en-US" sz="2000" b="1" dirty="0">
              <a:solidFill>
                <a:srgbClr val="213163"/>
              </a:solidFill>
            </a:endParaRPr>
          </a:p>
          <a:p>
            <a:pPr algn="just"/>
            <a:endParaRPr lang="en-US" sz="2000" b="1" dirty="0">
              <a:solidFill>
                <a:srgbClr val="213163"/>
              </a:solidFill>
            </a:endParaRPr>
          </a:p>
          <a:p>
            <a:pPr algn="just"/>
            <a:endParaRPr lang="en-US" sz="2000" b="1" dirty="0">
              <a:solidFill>
                <a:srgbClr val="213163"/>
              </a:solidFill>
            </a:endParaRPr>
          </a:p>
          <a:p>
            <a:pPr algn="just"/>
            <a:endParaRPr lang="en-US" sz="2000" b="1" dirty="0">
              <a:solidFill>
                <a:srgbClr val="213163"/>
              </a:solidFill>
            </a:endParaRPr>
          </a:p>
          <a:p>
            <a:pPr algn="just"/>
            <a:endParaRPr lang="en-US" sz="2000" b="1" dirty="0">
              <a:solidFill>
                <a:srgbClr val="213163"/>
              </a:solidFill>
            </a:endParaRPr>
          </a:p>
          <a:p>
            <a:pPr algn="just"/>
            <a:r>
              <a:rPr lang="en-US" sz="1800" b="1" dirty="0">
                <a:solidFill>
                  <a:srgbClr val="213163"/>
                </a:solidFill>
              </a:rPr>
              <a:t>  </a:t>
            </a:r>
            <a:endParaRPr lang="en-IN" sz="1800" dirty="0">
              <a:solidFill>
                <a:srgbClr val="21316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1988358"/>
      </p:ext>
    </p:extLst>
  </p:cSld>
  <p:clrMapOvr>
    <a:masterClrMapping/>
  </p:clrMapOvr>
</p:sld>
</file>

<file path=ppt/theme/theme1.xml><?xml version="1.0" encoding="utf-8"?>
<a:theme xmlns:a="http://schemas.openxmlformats.org/drawingml/2006/main" name="Session 01 Design Thinking &amp; Critical Thinking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ession 01 Design Thinking &amp; Critical Thinking" id="{1DE73F69-F87A-4ED3-81C1-82D2BA622E0C}" vid="{37568650-F724-47C7-905E-9640F801749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Session 01 Design Thinking &amp; Critical Thinking</Template>
  <TotalTime>322</TotalTime>
  <Words>476</Words>
  <Application>Microsoft Office PowerPoint</Application>
  <PresentationFormat>Widescreen</PresentationFormat>
  <Paragraphs>88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Arial Unicode MS</vt:lpstr>
      <vt:lpstr>Calibri</vt:lpstr>
      <vt:lpstr>Session 01 Design Thinking &amp; Critical Thinking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Mahesh Kurhe</dc:creator>
  <cp:lastModifiedBy>jagilinki harika</cp:lastModifiedBy>
  <cp:revision>6</cp:revision>
  <dcterms:created xsi:type="dcterms:W3CDTF">2024-12-31T09:40:01Z</dcterms:created>
  <dcterms:modified xsi:type="dcterms:W3CDTF">2025-08-03T05:45:36Z</dcterms:modified>
</cp:coreProperties>
</file>